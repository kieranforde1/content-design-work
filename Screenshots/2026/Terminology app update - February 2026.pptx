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Lexend Deca ExtraBold"/>
      <p:bold r:id="rId23"/>
    </p:embeddedFont>
    <p:embeddedFont>
      <p:font typeface="Lexend Deca Light"/>
      <p:regular r:id="rId24"/>
      <p:bold r:id="rId25"/>
    </p:embeddedFont>
    <p:embeddedFont>
      <p:font typeface="Lexend Deca Medium"/>
      <p:regular r:id="rId26"/>
      <p:bold r:id="rId27"/>
    </p:embeddedFont>
    <p:embeddedFont>
      <p:font typeface="Lexend Deca ExtraLight"/>
      <p:regular r:id="rId28"/>
      <p:bold r:id="rId29"/>
    </p:embeddedFont>
    <p:embeddedFont>
      <p:font typeface="Lexend Dec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8C802D-F8B2-4472-AA90-F5755E98DDA5}">
  <a:tblStyle styleId="{828C802D-F8B2-4472-AA90-F5755E98DD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LexendDecaLight-regular.fntdata"/><Relationship Id="rId23" Type="http://schemas.openxmlformats.org/officeDocument/2006/relationships/font" Target="fonts/LexendDeca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exendDecaMedium-regular.fntdata"/><Relationship Id="rId25" Type="http://schemas.openxmlformats.org/officeDocument/2006/relationships/font" Target="fonts/LexendDecaLight-bold.fntdata"/><Relationship Id="rId28" Type="http://schemas.openxmlformats.org/officeDocument/2006/relationships/font" Target="fonts/LexendDecaExtraLight-regular.fntdata"/><Relationship Id="rId27" Type="http://schemas.openxmlformats.org/officeDocument/2006/relationships/font" Target="fonts/LexendDeca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exendDecaExtra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exendDeca-bold.fntdata"/><Relationship Id="rId30" Type="http://schemas.openxmlformats.org/officeDocument/2006/relationships/font" Target="fonts/LexendDec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ff5daf65c_0_3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ff5daf65c_0_3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ff5daf65c_0_3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ff5daf65c_0_3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ff5daf65c_0_3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ff5daf65c_0_3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ff5daf65c_0_5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ff5daf65c_0_5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33f69cf2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33f69cf2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00aaedb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00aaedb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33f69cf2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33f69cf2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33f69cf2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33f69cf2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ff5daf65c_0_3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ff5daf65c_0_3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f5daf65c_0_5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f5daf65c_0_5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ff5daf65c_0_3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ff5daf65c_0_3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ff5daf65c_0_6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ff5daf65c_0_6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33f69cf2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33f69cf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ff5daf65c_0_3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ff5daf65c_0_3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33f69cf2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33f69cf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MAIN_POINT_1_1_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87900" y="2371775"/>
            <a:ext cx="5052600" cy="12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Font typeface="Lexend Deca Light"/>
              <a:buNone/>
              <a:defRPr sz="58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Font typeface="Lexend Deca Light"/>
              <a:buNone/>
              <a:defRPr sz="62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87975" y="3886706"/>
            <a:ext cx="40956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SzPts val="1400"/>
              <a:buFont typeface="Lexend Deca Medium"/>
              <a:buNone/>
              <a:defRPr sz="14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481733" y="1657638"/>
            <a:ext cx="1059612" cy="295711"/>
            <a:chOff x="10915650" y="6311469"/>
            <a:chExt cx="888936" cy="248080"/>
          </a:xfrm>
        </p:grpSpPr>
        <p:sp>
          <p:nvSpPr>
            <p:cNvPr id="57" name="Google Shape;57;p14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TITLE_ONLY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81275" y="519625"/>
            <a:ext cx="410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66" name="Google Shape;66;p15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67" name="Google Shape;67;p15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Slide" type="secHead">
  <p:cSld name="SECTION_HEADER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>
            <p:ph idx="2" type="pic"/>
          </p:nvPr>
        </p:nvSpPr>
        <p:spPr>
          <a:xfrm>
            <a:off x="1309725" y="1759425"/>
            <a:ext cx="1395300" cy="1395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3" type="pic"/>
          </p:nvPr>
        </p:nvSpPr>
        <p:spPr>
          <a:xfrm>
            <a:off x="3874350" y="1759425"/>
            <a:ext cx="1395300" cy="1395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4" type="pic"/>
          </p:nvPr>
        </p:nvSpPr>
        <p:spPr>
          <a:xfrm>
            <a:off x="6438975" y="1759425"/>
            <a:ext cx="1395300" cy="1395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848850" y="768168"/>
            <a:ext cx="7446300" cy="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80" name="Google Shape;80;p16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" name="Google Shape;87;p16"/>
          <p:cNvCxnSpPr/>
          <p:nvPr/>
        </p:nvCxnSpPr>
        <p:spPr>
          <a:xfrm>
            <a:off x="-487" y="530250"/>
            <a:ext cx="914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MAIN_POIN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87900" y="1292100"/>
            <a:ext cx="4848600" cy="25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MAIN_POINT_1_1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87900" y="2081582"/>
            <a:ext cx="4715400" cy="120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grpSp>
        <p:nvGrpSpPr>
          <p:cNvPr id="93" name="Google Shape;93;p18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94" name="Google Shape;94;p18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8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387975" y="3325859"/>
            <a:ext cx="40956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 Deca Medium"/>
              <a:buNone/>
              <a:defRPr sz="12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SzPts val="1200"/>
              <a:buFont typeface="Lexend Deca Medium"/>
              <a:buNone/>
              <a:defRPr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>
            <a:off x="-487" y="530250"/>
            <a:ext cx="914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8"/>
          <p:cNvSpPr txBox="1"/>
          <p:nvPr>
            <p:ph idx="2" type="subTitle"/>
          </p:nvPr>
        </p:nvSpPr>
        <p:spPr>
          <a:xfrm>
            <a:off x="387900" y="0"/>
            <a:ext cx="6285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SECTION_TITLE_AND_DESCRIPTION_2_1_2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9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06" name="Google Shape;106;p19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87900" y="2399972"/>
            <a:ext cx="39237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87900" y="14915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cxnSp>
        <p:nvCxnSpPr>
          <p:cNvPr id="115" name="Google Shape;115;p19"/>
          <p:cNvCxnSpPr/>
          <p:nvPr/>
        </p:nvCxnSpPr>
        <p:spPr>
          <a:xfrm>
            <a:off x="-487" y="530250"/>
            <a:ext cx="914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9"/>
          <p:cNvSpPr txBox="1"/>
          <p:nvPr>
            <p:ph idx="2" type="subTitle"/>
          </p:nvPr>
        </p:nvSpPr>
        <p:spPr>
          <a:xfrm>
            <a:off x="387900" y="0"/>
            <a:ext cx="6285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SECTION_TITLE_AND_DESCRIPTION_2_1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119" name="Google Shape;119;p20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20" name="Google Shape;120;p20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0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87900" y="2399972"/>
            <a:ext cx="39237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387900" y="14915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Lexend Deca Light"/>
              <a:buNone/>
              <a:defRPr sz="32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cxnSp>
        <p:nvCxnSpPr>
          <p:cNvPr id="129" name="Google Shape;129;p20"/>
          <p:cNvCxnSpPr/>
          <p:nvPr/>
        </p:nvCxnSpPr>
        <p:spPr>
          <a:xfrm>
            <a:off x="-487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0"/>
          <p:cNvCxnSpPr/>
          <p:nvPr/>
        </p:nvCxnSpPr>
        <p:spPr>
          <a:xfrm>
            <a:off x="4571688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20"/>
          <p:cNvSpPr txBox="1"/>
          <p:nvPr>
            <p:ph idx="2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3">
  <p:cSld name="SECTION_TITLE_AND_DESCRIPTION_2_1_1">
    <p:bg>
      <p:bgPr>
        <a:solidFill>
          <a:schemeClr val="accen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134" name="Google Shape;134;p21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35" name="Google Shape;135;p21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87900" y="2399972"/>
            <a:ext cx="39237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387900" y="14915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cxnSp>
        <p:nvCxnSpPr>
          <p:cNvPr id="144" name="Google Shape;144;p21"/>
          <p:cNvCxnSpPr/>
          <p:nvPr/>
        </p:nvCxnSpPr>
        <p:spPr>
          <a:xfrm>
            <a:off x="-487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1"/>
          <p:cNvCxnSpPr/>
          <p:nvPr/>
        </p:nvCxnSpPr>
        <p:spPr>
          <a:xfrm>
            <a:off x="4571688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1"/>
          <p:cNvSpPr txBox="1"/>
          <p:nvPr>
            <p:ph idx="2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5">
  <p:cSld name="SECTION_TITLE_AND_DESCRIPTION">
    <p:bg>
      <p:bgPr>
        <a:solidFill>
          <a:schemeClr val="accen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4959900" y="1450124"/>
            <a:ext cx="3923700" cy="8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22"/>
          <p:cNvSpPr txBox="1"/>
          <p:nvPr>
            <p:ph idx="2" type="body"/>
          </p:nvPr>
        </p:nvSpPr>
        <p:spPr>
          <a:xfrm>
            <a:off x="387900" y="2399972"/>
            <a:ext cx="39237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body"/>
          </p:nvPr>
        </p:nvSpPr>
        <p:spPr>
          <a:xfrm>
            <a:off x="4959900" y="2399975"/>
            <a:ext cx="39999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52" name="Google Shape;152;p22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53" name="Google Shape;153;p22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2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2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2"/>
          <p:cNvSpPr txBox="1"/>
          <p:nvPr>
            <p:ph type="title"/>
          </p:nvPr>
        </p:nvSpPr>
        <p:spPr>
          <a:xfrm>
            <a:off x="387900" y="14915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cxnSp>
        <p:nvCxnSpPr>
          <p:cNvPr id="161" name="Google Shape;161;p22"/>
          <p:cNvCxnSpPr/>
          <p:nvPr/>
        </p:nvCxnSpPr>
        <p:spPr>
          <a:xfrm>
            <a:off x="-487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4571688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2"/>
          <p:cNvSpPr txBox="1"/>
          <p:nvPr>
            <p:ph idx="4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4">
  <p:cSld name="SECTION_TITLE_AND_DESCRIPTION_1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66" name="Google Shape;166;p23"/>
          <p:cNvSpPr txBox="1"/>
          <p:nvPr>
            <p:ph idx="1" type="subTitle"/>
          </p:nvPr>
        </p:nvSpPr>
        <p:spPr>
          <a:xfrm>
            <a:off x="4959900" y="1450124"/>
            <a:ext cx="3923700" cy="8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67" name="Google Shape;167;p23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68" name="Google Shape;168;p23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3"/>
          <p:cNvSpPr txBox="1"/>
          <p:nvPr>
            <p:ph idx="2" type="body"/>
          </p:nvPr>
        </p:nvSpPr>
        <p:spPr>
          <a:xfrm>
            <a:off x="4959900" y="2399975"/>
            <a:ext cx="39999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76" name="Google Shape;176;p23"/>
          <p:cNvCxnSpPr/>
          <p:nvPr/>
        </p:nvCxnSpPr>
        <p:spPr>
          <a:xfrm>
            <a:off x="-487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3"/>
          <p:cNvCxnSpPr/>
          <p:nvPr/>
        </p:nvCxnSpPr>
        <p:spPr>
          <a:xfrm>
            <a:off x="4571688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3"/>
          <p:cNvSpPr txBox="1"/>
          <p:nvPr>
            <p:ph idx="3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Only" type="blank">
  <p:cSld name="BLANK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4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81" name="Google Shape;181;p24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8" name="Google Shape;188;p24"/>
          <p:cNvCxnSpPr/>
          <p:nvPr/>
        </p:nvCxnSpPr>
        <p:spPr>
          <a:xfrm>
            <a:off x="-487" y="530250"/>
            <a:ext cx="914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4"/>
          <p:cNvSpPr txBox="1"/>
          <p:nvPr>
            <p:ph idx="1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&amp; Title">
  <p:cSld name="TITLE_ONLY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87900" y="635814"/>
            <a:ext cx="81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Lexend Deca Light"/>
              <a:buNone/>
              <a:defRPr sz="18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grpSp>
        <p:nvGrpSpPr>
          <p:cNvPr id="192" name="Google Shape;192;p25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193" name="Google Shape;193;p25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0" name="Google Shape;200;p25"/>
          <p:cNvCxnSpPr/>
          <p:nvPr/>
        </p:nvCxnSpPr>
        <p:spPr>
          <a:xfrm>
            <a:off x="-487" y="530250"/>
            <a:ext cx="9144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5"/>
          <p:cNvSpPr txBox="1"/>
          <p:nvPr>
            <p:ph idx="1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6">
  <p:cSld name="SECTION_TITLE_AND_DESCRIPTION_2_2">
    <p:bg>
      <p:bgPr>
        <a:solidFill>
          <a:schemeClr val="accent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4959900" y="1450124"/>
            <a:ext cx="3923700" cy="8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5" name="Google Shape;205;p26"/>
          <p:cNvSpPr txBox="1"/>
          <p:nvPr>
            <p:ph idx="2" type="body"/>
          </p:nvPr>
        </p:nvSpPr>
        <p:spPr>
          <a:xfrm>
            <a:off x="387900" y="2399972"/>
            <a:ext cx="39237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idx="3" type="body"/>
          </p:nvPr>
        </p:nvSpPr>
        <p:spPr>
          <a:xfrm>
            <a:off x="4959900" y="2399975"/>
            <a:ext cx="3999900" cy="21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07" name="Google Shape;207;p26"/>
          <p:cNvGrpSpPr/>
          <p:nvPr/>
        </p:nvGrpSpPr>
        <p:grpSpPr>
          <a:xfrm>
            <a:off x="8186738" y="4733602"/>
            <a:ext cx="666702" cy="186060"/>
            <a:chOff x="10915650" y="6311469"/>
            <a:chExt cx="888936" cy="248080"/>
          </a:xfrm>
        </p:grpSpPr>
        <p:sp>
          <p:nvSpPr>
            <p:cNvPr id="208" name="Google Shape;208;p26"/>
            <p:cNvSpPr/>
            <p:nvPr/>
          </p:nvSpPr>
          <p:spPr>
            <a:xfrm>
              <a:off x="10915650" y="6352857"/>
              <a:ext cx="127254" cy="166750"/>
            </a:xfrm>
            <a:custGeom>
              <a:rect b="b" l="l" r="r" t="t"/>
              <a:pathLst>
                <a:path extrusionOk="0" h="166750" w="127254">
                  <a:moveTo>
                    <a:pt x="96266" y="99187"/>
                  </a:moveTo>
                  <a:lnTo>
                    <a:pt x="30988" y="99187"/>
                  </a:lnTo>
                  <a:lnTo>
                    <a:pt x="30988" y="166751"/>
                  </a:lnTo>
                  <a:lnTo>
                    <a:pt x="0" y="166751"/>
                  </a:lnTo>
                  <a:lnTo>
                    <a:pt x="0" y="0"/>
                  </a:lnTo>
                  <a:lnTo>
                    <a:pt x="30988" y="0"/>
                  </a:lnTo>
                  <a:lnTo>
                    <a:pt x="30988" y="69850"/>
                  </a:lnTo>
                  <a:lnTo>
                    <a:pt x="96266" y="69850"/>
                  </a:lnTo>
                  <a:lnTo>
                    <a:pt x="96266" y="0"/>
                  </a:lnTo>
                  <a:lnTo>
                    <a:pt x="127254" y="0"/>
                  </a:lnTo>
                  <a:lnTo>
                    <a:pt x="127254" y="166751"/>
                  </a:lnTo>
                  <a:lnTo>
                    <a:pt x="96266" y="166751"/>
                  </a:lnTo>
                  <a:lnTo>
                    <a:pt x="96266" y="99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11061445" y="6394259"/>
              <a:ext cx="110109" cy="125603"/>
            </a:xfrm>
            <a:custGeom>
              <a:rect b="b" l="l" r="r" t="t"/>
              <a:pathLst>
                <a:path extrusionOk="0" h="125603" w="110109">
                  <a:moveTo>
                    <a:pt x="80645" y="71501"/>
                  </a:moveTo>
                  <a:cubicBezTo>
                    <a:pt x="80328" y="77978"/>
                    <a:pt x="77470" y="84074"/>
                    <a:pt x="72708" y="88519"/>
                  </a:cubicBezTo>
                  <a:cubicBezTo>
                    <a:pt x="67882" y="92964"/>
                    <a:pt x="61595" y="95504"/>
                    <a:pt x="54991" y="95504"/>
                  </a:cubicBezTo>
                  <a:cubicBezTo>
                    <a:pt x="48387" y="95504"/>
                    <a:pt x="42037" y="92964"/>
                    <a:pt x="37274" y="88519"/>
                  </a:cubicBezTo>
                  <a:cubicBezTo>
                    <a:pt x="32512" y="84074"/>
                    <a:pt x="29655" y="77978"/>
                    <a:pt x="29337" y="71501"/>
                  </a:cubicBezTo>
                  <a:lnTo>
                    <a:pt x="29337" y="0"/>
                  </a:lnTo>
                  <a:lnTo>
                    <a:pt x="0" y="0"/>
                  </a:lnTo>
                  <a:lnTo>
                    <a:pt x="0" y="71501"/>
                  </a:lnTo>
                  <a:cubicBezTo>
                    <a:pt x="0" y="85852"/>
                    <a:pt x="5779" y="99568"/>
                    <a:pt x="16129" y="109728"/>
                  </a:cubicBezTo>
                  <a:cubicBezTo>
                    <a:pt x="26416" y="119888"/>
                    <a:pt x="40449" y="125603"/>
                    <a:pt x="55055" y="125603"/>
                  </a:cubicBezTo>
                  <a:cubicBezTo>
                    <a:pt x="69660" y="125603"/>
                    <a:pt x="83630" y="119888"/>
                    <a:pt x="93980" y="109728"/>
                  </a:cubicBezTo>
                  <a:cubicBezTo>
                    <a:pt x="104267" y="99568"/>
                    <a:pt x="110110" y="85852"/>
                    <a:pt x="110110" y="71501"/>
                  </a:cubicBezTo>
                  <a:lnTo>
                    <a:pt x="110110" y="0"/>
                  </a:lnTo>
                  <a:lnTo>
                    <a:pt x="80773" y="0"/>
                  </a:lnTo>
                  <a:lnTo>
                    <a:pt x="80645" y="715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11324653" y="6352857"/>
              <a:ext cx="105473" cy="166752"/>
            </a:xfrm>
            <a:custGeom>
              <a:rect b="b" l="l" r="r" t="t"/>
              <a:pathLst>
                <a:path extrusionOk="0" h="166752" w="105473">
                  <a:moveTo>
                    <a:pt x="35242" y="48832"/>
                  </a:moveTo>
                  <a:cubicBezTo>
                    <a:pt x="35242" y="34163"/>
                    <a:pt x="45085" y="29527"/>
                    <a:pt x="55880" y="29527"/>
                  </a:cubicBezTo>
                  <a:cubicBezTo>
                    <a:pt x="66611" y="30797"/>
                    <a:pt x="76453" y="35941"/>
                    <a:pt x="83565" y="43942"/>
                  </a:cubicBezTo>
                  <a:lnTo>
                    <a:pt x="102870" y="21590"/>
                  </a:lnTo>
                  <a:cubicBezTo>
                    <a:pt x="97345" y="15049"/>
                    <a:pt x="90488" y="9779"/>
                    <a:pt x="82677" y="6033"/>
                  </a:cubicBezTo>
                  <a:cubicBezTo>
                    <a:pt x="74930" y="2286"/>
                    <a:pt x="66421" y="254"/>
                    <a:pt x="57785" y="0"/>
                  </a:cubicBezTo>
                  <a:cubicBezTo>
                    <a:pt x="25844" y="0"/>
                    <a:pt x="2857" y="18542"/>
                    <a:pt x="2857" y="48832"/>
                  </a:cubicBezTo>
                  <a:cubicBezTo>
                    <a:pt x="2857" y="105220"/>
                    <a:pt x="73025" y="87313"/>
                    <a:pt x="73025" y="118935"/>
                  </a:cubicBezTo>
                  <a:cubicBezTo>
                    <a:pt x="72707" y="124015"/>
                    <a:pt x="70294" y="128778"/>
                    <a:pt x="66484" y="132271"/>
                  </a:cubicBezTo>
                  <a:cubicBezTo>
                    <a:pt x="62611" y="135699"/>
                    <a:pt x="57594" y="137541"/>
                    <a:pt x="52388" y="137477"/>
                  </a:cubicBezTo>
                  <a:cubicBezTo>
                    <a:pt x="34989" y="137477"/>
                    <a:pt x="29337" y="129032"/>
                    <a:pt x="21399" y="120205"/>
                  </a:cubicBezTo>
                  <a:lnTo>
                    <a:pt x="0" y="142049"/>
                  </a:lnTo>
                  <a:cubicBezTo>
                    <a:pt x="5905" y="149797"/>
                    <a:pt x="13589" y="156083"/>
                    <a:pt x="22415" y="160337"/>
                  </a:cubicBezTo>
                  <a:cubicBezTo>
                    <a:pt x="31178" y="164655"/>
                    <a:pt x="40894" y="166814"/>
                    <a:pt x="50736" y="166751"/>
                  </a:cubicBezTo>
                  <a:cubicBezTo>
                    <a:pt x="81026" y="166751"/>
                    <a:pt x="105473" y="148272"/>
                    <a:pt x="105473" y="119126"/>
                  </a:cubicBezTo>
                  <a:cubicBezTo>
                    <a:pt x="105473" y="56515"/>
                    <a:pt x="35242" y="75883"/>
                    <a:pt x="35242" y="488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11742166" y="6365430"/>
              <a:ext cx="62420" cy="154332"/>
            </a:xfrm>
            <a:custGeom>
              <a:rect b="b" l="l" r="r" t="t"/>
              <a:pathLst>
                <a:path extrusionOk="0" h="154332" w="62420">
                  <a:moveTo>
                    <a:pt x="52133" y="127572"/>
                  </a:moveTo>
                  <a:cubicBezTo>
                    <a:pt x="34734" y="127572"/>
                    <a:pt x="29781" y="120205"/>
                    <a:pt x="29781" y="109093"/>
                  </a:cubicBezTo>
                  <a:lnTo>
                    <a:pt x="29781" y="58801"/>
                  </a:lnTo>
                  <a:lnTo>
                    <a:pt x="56769" y="58801"/>
                  </a:lnTo>
                  <a:lnTo>
                    <a:pt x="56769" y="33401"/>
                  </a:lnTo>
                  <a:lnTo>
                    <a:pt x="29781" y="33401"/>
                  </a:lnTo>
                  <a:lnTo>
                    <a:pt x="29781" y="0"/>
                  </a:lnTo>
                  <a:lnTo>
                    <a:pt x="0" y="13145"/>
                  </a:lnTo>
                  <a:lnTo>
                    <a:pt x="0" y="115126"/>
                  </a:lnTo>
                  <a:cubicBezTo>
                    <a:pt x="0" y="141161"/>
                    <a:pt x="18288" y="154305"/>
                    <a:pt x="43370" y="154305"/>
                  </a:cubicBezTo>
                  <a:cubicBezTo>
                    <a:pt x="47307" y="154432"/>
                    <a:pt x="51244" y="154114"/>
                    <a:pt x="55118" y="153416"/>
                  </a:cubicBezTo>
                  <a:lnTo>
                    <a:pt x="62420" y="127127"/>
                  </a:lnTo>
                  <a:cubicBezTo>
                    <a:pt x="59182" y="127317"/>
                    <a:pt x="55372" y="127572"/>
                    <a:pt x="52133" y="1275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11189969" y="6353873"/>
              <a:ext cx="125166" cy="165877"/>
            </a:xfrm>
            <a:custGeom>
              <a:rect b="b" l="l" r="r" t="t"/>
              <a:pathLst>
                <a:path extrusionOk="0" h="165877" w="125166">
                  <a:moveTo>
                    <a:pt x="64008" y="41275"/>
                  </a:moveTo>
                  <a:cubicBezTo>
                    <a:pt x="57595" y="41021"/>
                    <a:pt x="51181" y="42037"/>
                    <a:pt x="45212" y="44386"/>
                  </a:cubicBezTo>
                  <a:cubicBezTo>
                    <a:pt x="39243" y="46799"/>
                    <a:pt x="33910" y="50355"/>
                    <a:pt x="29464" y="54928"/>
                  </a:cubicBezTo>
                  <a:lnTo>
                    <a:pt x="29464" y="0"/>
                  </a:lnTo>
                  <a:lnTo>
                    <a:pt x="0" y="0"/>
                  </a:lnTo>
                  <a:lnTo>
                    <a:pt x="0" y="101727"/>
                  </a:lnTo>
                  <a:cubicBezTo>
                    <a:pt x="0" y="139827"/>
                    <a:pt x="28004" y="165862"/>
                    <a:pt x="59499" y="165862"/>
                  </a:cubicBezTo>
                  <a:cubicBezTo>
                    <a:pt x="67945" y="166053"/>
                    <a:pt x="76391" y="164529"/>
                    <a:pt x="84265" y="161481"/>
                  </a:cubicBezTo>
                  <a:cubicBezTo>
                    <a:pt x="92139" y="158496"/>
                    <a:pt x="99378" y="153924"/>
                    <a:pt x="105474" y="148146"/>
                  </a:cubicBezTo>
                  <a:cubicBezTo>
                    <a:pt x="111570" y="142367"/>
                    <a:pt x="116460" y="135446"/>
                    <a:pt x="119824" y="127826"/>
                  </a:cubicBezTo>
                  <a:cubicBezTo>
                    <a:pt x="123190" y="120142"/>
                    <a:pt x="125032" y="111951"/>
                    <a:pt x="125159" y="103632"/>
                  </a:cubicBezTo>
                  <a:cubicBezTo>
                    <a:pt x="125286" y="95567"/>
                    <a:pt x="123825" y="87567"/>
                    <a:pt x="120841" y="80073"/>
                  </a:cubicBezTo>
                  <a:cubicBezTo>
                    <a:pt x="117856" y="72580"/>
                    <a:pt x="113412" y="65786"/>
                    <a:pt x="107697" y="60008"/>
                  </a:cubicBezTo>
                  <a:cubicBezTo>
                    <a:pt x="102045" y="54229"/>
                    <a:pt x="95250" y="49593"/>
                    <a:pt x="87757" y="46355"/>
                  </a:cubicBezTo>
                  <a:cubicBezTo>
                    <a:pt x="80264" y="43117"/>
                    <a:pt x="72199" y="41402"/>
                    <a:pt x="64008" y="41275"/>
                  </a:cubicBezTo>
                  <a:close/>
                  <a:moveTo>
                    <a:pt x="64008" y="136716"/>
                  </a:moveTo>
                  <a:cubicBezTo>
                    <a:pt x="57404" y="136716"/>
                    <a:pt x="50927" y="134811"/>
                    <a:pt x="45466" y="131191"/>
                  </a:cubicBezTo>
                  <a:cubicBezTo>
                    <a:pt x="39942" y="127572"/>
                    <a:pt x="35687" y="122492"/>
                    <a:pt x="33148" y="116459"/>
                  </a:cubicBezTo>
                  <a:cubicBezTo>
                    <a:pt x="30607" y="110490"/>
                    <a:pt x="29973" y="103886"/>
                    <a:pt x="31242" y="97473"/>
                  </a:cubicBezTo>
                  <a:cubicBezTo>
                    <a:pt x="32512" y="91123"/>
                    <a:pt x="35751" y="85280"/>
                    <a:pt x="40387" y="80709"/>
                  </a:cubicBezTo>
                  <a:cubicBezTo>
                    <a:pt x="45086" y="76073"/>
                    <a:pt x="51054" y="72961"/>
                    <a:pt x="57531" y="71692"/>
                  </a:cubicBezTo>
                  <a:cubicBezTo>
                    <a:pt x="64008" y="70422"/>
                    <a:pt x="70739" y="71120"/>
                    <a:pt x="76836" y="73597"/>
                  </a:cubicBezTo>
                  <a:cubicBezTo>
                    <a:pt x="82931" y="76073"/>
                    <a:pt x="88138" y="80328"/>
                    <a:pt x="91822" y="85725"/>
                  </a:cubicBezTo>
                  <a:cubicBezTo>
                    <a:pt x="95441" y="91123"/>
                    <a:pt x="97410" y="97473"/>
                    <a:pt x="97410" y="103949"/>
                  </a:cubicBezTo>
                  <a:cubicBezTo>
                    <a:pt x="97346" y="112649"/>
                    <a:pt x="93790" y="120967"/>
                    <a:pt x="87440" y="127127"/>
                  </a:cubicBezTo>
                  <a:cubicBezTo>
                    <a:pt x="81153" y="133223"/>
                    <a:pt x="72644" y="136589"/>
                    <a:pt x="63818" y="136589"/>
                  </a:cubicBezTo>
                  <a:lnTo>
                    <a:pt x="64008" y="1367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1448288" y="6393672"/>
              <a:ext cx="125106" cy="165877"/>
            </a:xfrm>
            <a:custGeom>
              <a:rect b="b" l="l" r="r" t="t"/>
              <a:pathLst>
                <a:path extrusionOk="0" h="165877" w="125106">
                  <a:moveTo>
                    <a:pt x="125095" y="62246"/>
                  </a:moveTo>
                  <a:cubicBezTo>
                    <a:pt x="124968" y="53927"/>
                    <a:pt x="123127" y="45736"/>
                    <a:pt x="119761" y="38052"/>
                  </a:cubicBezTo>
                  <a:cubicBezTo>
                    <a:pt x="116395" y="30432"/>
                    <a:pt x="111506" y="23511"/>
                    <a:pt x="105410" y="17732"/>
                  </a:cubicBezTo>
                  <a:cubicBezTo>
                    <a:pt x="99314" y="11954"/>
                    <a:pt x="92139" y="7445"/>
                    <a:pt x="84265" y="4397"/>
                  </a:cubicBezTo>
                  <a:cubicBezTo>
                    <a:pt x="76391" y="1350"/>
                    <a:pt x="67945" y="-175"/>
                    <a:pt x="59499" y="16"/>
                  </a:cubicBezTo>
                  <a:cubicBezTo>
                    <a:pt x="28067" y="16"/>
                    <a:pt x="0" y="26051"/>
                    <a:pt x="0" y="64087"/>
                  </a:cubicBezTo>
                  <a:lnTo>
                    <a:pt x="0" y="165878"/>
                  </a:lnTo>
                  <a:lnTo>
                    <a:pt x="29464" y="165878"/>
                  </a:lnTo>
                  <a:lnTo>
                    <a:pt x="29464" y="110950"/>
                  </a:lnTo>
                  <a:cubicBezTo>
                    <a:pt x="33909" y="115522"/>
                    <a:pt x="39306" y="119078"/>
                    <a:pt x="45212" y="121428"/>
                  </a:cubicBezTo>
                  <a:cubicBezTo>
                    <a:pt x="51181" y="123777"/>
                    <a:pt x="57594" y="124857"/>
                    <a:pt x="64008" y="124603"/>
                  </a:cubicBezTo>
                  <a:cubicBezTo>
                    <a:pt x="80518" y="124285"/>
                    <a:pt x="96203" y="117555"/>
                    <a:pt x="107696" y="105870"/>
                  </a:cubicBezTo>
                  <a:cubicBezTo>
                    <a:pt x="119126" y="94187"/>
                    <a:pt x="125413" y="78502"/>
                    <a:pt x="125095" y="62246"/>
                  </a:cubicBezTo>
                  <a:close/>
                  <a:moveTo>
                    <a:pt x="97218" y="62246"/>
                  </a:moveTo>
                  <a:cubicBezTo>
                    <a:pt x="97092" y="68723"/>
                    <a:pt x="95059" y="75073"/>
                    <a:pt x="91313" y="80344"/>
                  </a:cubicBezTo>
                  <a:cubicBezTo>
                    <a:pt x="87567" y="85677"/>
                    <a:pt x="82296" y="89805"/>
                    <a:pt x="76136" y="92218"/>
                  </a:cubicBezTo>
                  <a:cubicBezTo>
                    <a:pt x="70041" y="94631"/>
                    <a:pt x="63309" y="95139"/>
                    <a:pt x="56896" y="93806"/>
                  </a:cubicBezTo>
                  <a:cubicBezTo>
                    <a:pt x="50419" y="92472"/>
                    <a:pt x="44514" y="89297"/>
                    <a:pt x="39942" y="84662"/>
                  </a:cubicBezTo>
                  <a:cubicBezTo>
                    <a:pt x="35306" y="80026"/>
                    <a:pt x="32194" y="74120"/>
                    <a:pt x="30988" y="67770"/>
                  </a:cubicBezTo>
                  <a:cubicBezTo>
                    <a:pt x="29781" y="61420"/>
                    <a:pt x="30480" y="54816"/>
                    <a:pt x="33083" y="48847"/>
                  </a:cubicBezTo>
                  <a:cubicBezTo>
                    <a:pt x="35687" y="42878"/>
                    <a:pt x="40005" y="37799"/>
                    <a:pt x="45530" y="34243"/>
                  </a:cubicBezTo>
                  <a:cubicBezTo>
                    <a:pt x="50991" y="30687"/>
                    <a:pt x="57468" y="28845"/>
                    <a:pt x="64071" y="28908"/>
                  </a:cubicBezTo>
                  <a:cubicBezTo>
                    <a:pt x="68453" y="28908"/>
                    <a:pt x="72834" y="29734"/>
                    <a:pt x="76898" y="31385"/>
                  </a:cubicBezTo>
                  <a:cubicBezTo>
                    <a:pt x="80963" y="33100"/>
                    <a:pt x="84645" y="35512"/>
                    <a:pt x="87757" y="38624"/>
                  </a:cubicBezTo>
                  <a:cubicBezTo>
                    <a:pt x="90868" y="41672"/>
                    <a:pt x="93345" y="45291"/>
                    <a:pt x="94996" y="49356"/>
                  </a:cubicBezTo>
                  <a:cubicBezTo>
                    <a:pt x="96647" y="53356"/>
                    <a:pt x="97472" y="57610"/>
                    <a:pt x="97472" y="61928"/>
                  </a:cubicBezTo>
                  <a:lnTo>
                    <a:pt x="97218" y="62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11486061" y="6311469"/>
              <a:ext cx="237456" cy="245605"/>
            </a:xfrm>
            <a:custGeom>
              <a:rect b="b" l="l" r="r" t="t"/>
              <a:pathLst>
                <a:path extrusionOk="0" h="245605" w="237456">
                  <a:moveTo>
                    <a:pt x="182762" y="80758"/>
                  </a:moveTo>
                  <a:lnTo>
                    <a:pt x="182762" y="51738"/>
                  </a:lnTo>
                  <a:cubicBezTo>
                    <a:pt x="186699" y="49897"/>
                    <a:pt x="190001" y="47040"/>
                    <a:pt x="192287" y="43484"/>
                  </a:cubicBezTo>
                  <a:cubicBezTo>
                    <a:pt x="194636" y="39927"/>
                    <a:pt x="195843" y="35774"/>
                    <a:pt x="195907" y="31533"/>
                  </a:cubicBezTo>
                  <a:lnTo>
                    <a:pt x="195907" y="30853"/>
                  </a:lnTo>
                  <a:cubicBezTo>
                    <a:pt x="195907" y="24935"/>
                    <a:pt x="193493" y="19265"/>
                    <a:pt x="189239" y="15074"/>
                  </a:cubicBezTo>
                  <a:cubicBezTo>
                    <a:pt x="184984" y="10889"/>
                    <a:pt x="179206" y="8533"/>
                    <a:pt x="173173" y="8514"/>
                  </a:cubicBezTo>
                  <a:lnTo>
                    <a:pt x="172475" y="8514"/>
                  </a:lnTo>
                  <a:cubicBezTo>
                    <a:pt x="166442" y="8533"/>
                    <a:pt x="160664" y="10889"/>
                    <a:pt x="156409" y="15074"/>
                  </a:cubicBezTo>
                  <a:cubicBezTo>
                    <a:pt x="152155" y="19265"/>
                    <a:pt x="149742" y="24935"/>
                    <a:pt x="149742" y="30853"/>
                  </a:cubicBezTo>
                  <a:lnTo>
                    <a:pt x="149742" y="31533"/>
                  </a:lnTo>
                  <a:cubicBezTo>
                    <a:pt x="149742" y="35755"/>
                    <a:pt x="150948" y="39864"/>
                    <a:pt x="153234" y="43484"/>
                  </a:cubicBezTo>
                  <a:cubicBezTo>
                    <a:pt x="155520" y="47040"/>
                    <a:pt x="158822" y="49897"/>
                    <a:pt x="162695" y="51738"/>
                  </a:cubicBezTo>
                  <a:lnTo>
                    <a:pt x="162695" y="80758"/>
                  </a:lnTo>
                  <a:cubicBezTo>
                    <a:pt x="151457" y="82472"/>
                    <a:pt x="140852" y="87044"/>
                    <a:pt x="131962" y="94029"/>
                  </a:cubicBezTo>
                  <a:lnTo>
                    <a:pt x="50999" y="31965"/>
                  </a:lnTo>
                  <a:cubicBezTo>
                    <a:pt x="51507" y="29951"/>
                    <a:pt x="51825" y="27875"/>
                    <a:pt x="51825" y="25792"/>
                  </a:cubicBezTo>
                  <a:cubicBezTo>
                    <a:pt x="51952" y="20173"/>
                    <a:pt x="50110" y="14686"/>
                    <a:pt x="46682" y="10190"/>
                  </a:cubicBezTo>
                  <a:cubicBezTo>
                    <a:pt x="43252" y="5694"/>
                    <a:pt x="38363" y="2437"/>
                    <a:pt x="32838" y="932"/>
                  </a:cubicBezTo>
                  <a:cubicBezTo>
                    <a:pt x="27377" y="-573"/>
                    <a:pt x="21471" y="-249"/>
                    <a:pt x="16201" y="1859"/>
                  </a:cubicBezTo>
                  <a:cubicBezTo>
                    <a:pt x="10867" y="3974"/>
                    <a:pt x="6422" y="7745"/>
                    <a:pt x="3565" y="12597"/>
                  </a:cubicBezTo>
                  <a:cubicBezTo>
                    <a:pt x="644" y="17442"/>
                    <a:pt x="-499" y="23100"/>
                    <a:pt x="199" y="28675"/>
                  </a:cubicBezTo>
                  <a:cubicBezTo>
                    <a:pt x="897" y="34257"/>
                    <a:pt x="3501" y="39419"/>
                    <a:pt x="7502" y="43420"/>
                  </a:cubicBezTo>
                  <a:cubicBezTo>
                    <a:pt x="11566" y="47421"/>
                    <a:pt x="16772" y="50024"/>
                    <a:pt x="22488" y="50722"/>
                  </a:cubicBezTo>
                  <a:cubicBezTo>
                    <a:pt x="28139" y="51484"/>
                    <a:pt x="33918" y="50405"/>
                    <a:pt x="38870" y="47547"/>
                  </a:cubicBezTo>
                  <a:lnTo>
                    <a:pt x="118754" y="108571"/>
                  </a:lnTo>
                  <a:cubicBezTo>
                    <a:pt x="111515" y="119175"/>
                    <a:pt x="107768" y="131748"/>
                    <a:pt x="107958" y="144575"/>
                  </a:cubicBezTo>
                  <a:cubicBezTo>
                    <a:pt x="108086" y="157339"/>
                    <a:pt x="112213" y="169785"/>
                    <a:pt x="119707" y="180262"/>
                  </a:cubicBezTo>
                  <a:lnTo>
                    <a:pt x="95449" y="204138"/>
                  </a:lnTo>
                  <a:cubicBezTo>
                    <a:pt x="93417" y="203503"/>
                    <a:pt x="91258" y="203123"/>
                    <a:pt x="89163" y="203186"/>
                  </a:cubicBezTo>
                  <a:cubicBezTo>
                    <a:pt x="84591" y="203059"/>
                    <a:pt x="80082" y="204392"/>
                    <a:pt x="76336" y="206933"/>
                  </a:cubicBezTo>
                  <a:cubicBezTo>
                    <a:pt x="72589" y="209536"/>
                    <a:pt x="69732" y="213155"/>
                    <a:pt x="68271" y="217410"/>
                  </a:cubicBezTo>
                  <a:cubicBezTo>
                    <a:pt x="66747" y="221664"/>
                    <a:pt x="66683" y="226300"/>
                    <a:pt x="68017" y="230618"/>
                  </a:cubicBezTo>
                  <a:cubicBezTo>
                    <a:pt x="69351" y="234873"/>
                    <a:pt x="72018" y="238683"/>
                    <a:pt x="75701" y="241349"/>
                  </a:cubicBezTo>
                  <a:cubicBezTo>
                    <a:pt x="79383" y="244080"/>
                    <a:pt x="83765" y="245540"/>
                    <a:pt x="88337" y="245604"/>
                  </a:cubicBezTo>
                  <a:cubicBezTo>
                    <a:pt x="92972" y="245667"/>
                    <a:pt x="97418" y="244271"/>
                    <a:pt x="101164" y="241667"/>
                  </a:cubicBezTo>
                  <a:cubicBezTo>
                    <a:pt x="104911" y="239063"/>
                    <a:pt x="107705" y="235380"/>
                    <a:pt x="109102" y="231126"/>
                  </a:cubicBezTo>
                  <a:cubicBezTo>
                    <a:pt x="110562" y="226872"/>
                    <a:pt x="110626" y="222236"/>
                    <a:pt x="109229" y="217981"/>
                  </a:cubicBezTo>
                  <a:lnTo>
                    <a:pt x="133295" y="194360"/>
                  </a:lnTo>
                  <a:cubicBezTo>
                    <a:pt x="141106" y="200201"/>
                    <a:pt x="150250" y="204265"/>
                    <a:pt x="159902" y="206171"/>
                  </a:cubicBezTo>
                  <a:cubicBezTo>
                    <a:pt x="169617" y="208075"/>
                    <a:pt x="179587" y="207758"/>
                    <a:pt x="189175" y="205281"/>
                  </a:cubicBezTo>
                  <a:cubicBezTo>
                    <a:pt x="198700" y="202805"/>
                    <a:pt x="207527" y="198233"/>
                    <a:pt x="215019" y="191883"/>
                  </a:cubicBezTo>
                  <a:cubicBezTo>
                    <a:pt x="222449" y="185533"/>
                    <a:pt x="228355" y="177596"/>
                    <a:pt x="232228" y="168705"/>
                  </a:cubicBezTo>
                  <a:cubicBezTo>
                    <a:pt x="236102" y="159752"/>
                    <a:pt x="237880" y="150100"/>
                    <a:pt x="237371" y="140384"/>
                  </a:cubicBezTo>
                  <a:cubicBezTo>
                    <a:pt x="236800" y="130733"/>
                    <a:pt x="234069" y="121271"/>
                    <a:pt x="229244" y="112762"/>
                  </a:cubicBezTo>
                  <a:cubicBezTo>
                    <a:pt x="224482" y="104316"/>
                    <a:pt x="217750" y="97014"/>
                    <a:pt x="209686" y="91490"/>
                  </a:cubicBezTo>
                  <a:cubicBezTo>
                    <a:pt x="201557" y="85902"/>
                    <a:pt x="192287" y="82282"/>
                    <a:pt x="182507" y="80758"/>
                  </a:cubicBezTo>
                  <a:lnTo>
                    <a:pt x="182762" y="80758"/>
                  </a:lnTo>
                  <a:close/>
                  <a:moveTo>
                    <a:pt x="172792" y="176389"/>
                  </a:moveTo>
                  <a:cubicBezTo>
                    <a:pt x="166188" y="176389"/>
                    <a:pt x="159775" y="174421"/>
                    <a:pt x="154314" y="170865"/>
                  </a:cubicBezTo>
                  <a:cubicBezTo>
                    <a:pt x="148789" y="167245"/>
                    <a:pt x="144534" y="162165"/>
                    <a:pt x="142058" y="156196"/>
                  </a:cubicBezTo>
                  <a:cubicBezTo>
                    <a:pt x="139518" y="150164"/>
                    <a:pt x="138883" y="143623"/>
                    <a:pt x="140153" y="137273"/>
                  </a:cubicBezTo>
                  <a:cubicBezTo>
                    <a:pt x="141423" y="130923"/>
                    <a:pt x="144598" y="125081"/>
                    <a:pt x="149297" y="120509"/>
                  </a:cubicBezTo>
                  <a:cubicBezTo>
                    <a:pt x="153932" y="115937"/>
                    <a:pt x="159902" y="112825"/>
                    <a:pt x="166315" y="111555"/>
                  </a:cubicBezTo>
                  <a:cubicBezTo>
                    <a:pt x="172792" y="110349"/>
                    <a:pt x="179459" y="110984"/>
                    <a:pt x="185556" y="113460"/>
                  </a:cubicBezTo>
                  <a:cubicBezTo>
                    <a:pt x="191652" y="115937"/>
                    <a:pt x="196858" y="120128"/>
                    <a:pt x="200478" y="125525"/>
                  </a:cubicBezTo>
                  <a:cubicBezTo>
                    <a:pt x="204161" y="130923"/>
                    <a:pt x="206066" y="137273"/>
                    <a:pt x="206066" y="143750"/>
                  </a:cubicBezTo>
                  <a:cubicBezTo>
                    <a:pt x="206066" y="148004"/>
                    <a:pt x="205177" y="152259"/>
                    <a:pt x="203526" y="156259"/>
                  </a:cubicBezTo>
                  <a:cubicBezTo>
                    <a:pt x="201875" y="160196"/>
                    <a:pt x="199399" y="163816"/>
                    <a:pt x="196287" y="166800"/>
                  </a:cubicBezTo>
                  <a:cubicBezTo>
                    <a:pt x="193239" y="169848"/>
                    <a:pt x="189557" y="172261"/>
                    <a:pt x="185492" y="173912"/>
                  </a:cubicBezTo>
                  <a:cubicBezTo>
                    <a:pt x="181492" y="175564"/>
                    <a:pt x="177174" y="176389"/>
                    <a:pt x="172792" y="176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26"/>
          <p:cNvSpPr txBox="1"/>
          <p:nvPr>
            <p:ph type="title"/>
          </p:nvPr>
        </p:nvSpPr>
        <p:spPr>
          <a:xfrm>
            <a:off x="387900" y="14915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 Deca Light"/>
              <a:buNone/>
              <a:defRPr sz="30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cxnSp>
        <p:nvCxnSpPr>
          <p:cNvPr id="216" name="Google Shape;216;p26"/>
          <p:cNvCxnSpPr/>
          <p:nvPr/>
        </p:nvCxnSpPr>
        <p:spPr>
          <a:xfrm>
            <a:off x="-487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6"/>
          <p:cNvCxnSpPr/>
          <p:nvPr/>
        </p:nvCxnSpPr>
        <p:spPr>
          <a:xfrm>
            <a:off x="4571688" y="530250"/>
            <a:ext cx="4572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6"/>
          <p:cNvSpPr txBox="1"/>
          <p:nvPr>
            <p:ph idx="4" type="subTitle"/>
          </p:nvPr>
        </p:nvSpPr>
        <p:spPr>
          <a:xfrm>
            <a:off x="387900" y="0"/>
            <a:ext cx="4183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308850"/>
            <a:ext cx="81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"/>
              <a:buNone/>
              <a:defRPr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152475"/>
            <a:ext cx="8196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Deca Light"/>
              <a:buChar char="●"/>
              <a:defRPr sz="16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indent="-304800" lvl="1" marL="9144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○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indent="-304800" lvl="2" marL="13716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■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indent="-304800" lvl="3" marL="18288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●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indent="-304800" lvl="4" marL="22860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○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indent="-304800" lvl="5" marL="27432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■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indent="-304800" lvl="6" marL="32004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●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indent="-304800" lvl="7" marL="36576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Deca Light"/>
              <a:buChar char="○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indent="-304800" lvl="8" marL="41148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Lexend Deca Light"/>
              <a:buChar char="■"/>
              <a:defRPr sz="12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44">
          <p15:clr>
            <a:srgbClr val="E46962"/>
          </p15:clr>
        </p15:guide>
        <p15:guide id="2" pos="303">
          <p15:clr>
            <a:srgbClr val="E46962"/>
          </p15:clr>
        </p15:guide>
        <p15:guide id="3" orient="horz" pos="19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q3RBh-Pc4Q8LPeqV0e-N6iJn59UaH2hSgeDPMGczAhw/edit?usp=drive_link" TargetMode="External"/><Relationship Id="rId4" Type="http://schemas.openxmlformats.org/officeDocument/2006/relationships/hyperlink" Target="https://terminologychecker.lovable.app/" TargetMode="External"/><Relationship Id="rId5" Type="http://schemas.openxmlformats.org/officeDocument/2006/relationships/hyperlink" Target="https://docs.google.com/document/d/1JCxwCp2xIHNivpBJLZeu14EvQ7vfx3USIjNWYVn7HjU/edit?tab=t.0#heading=h.xpq5g0e5meoi" TargetMode="External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ourcegraph.hubteam.com/search?q=context:global+file:en.lyaml&amp;patternType=keyword&amp;sm=0" TargetMode="External"/><Relationship Id="rId4" Type="http://schemas.openxmlformats.org/officeDocument/2006/relationships/hyperlink" Target="https://drive.google.com/file/d/1PY6Tq3C_cmyfiEMRMsT-sm7_8JkM3A-j/view?usp=drive_link" TargetMode="External"/><Relationship Id="rId5" Type="http://schemas.openxmlformats.org/officeDocument/2006/relationships/hyperlink" Target="https://tools.hubteam.com/api/get/private.hubapi.com%2Flinguine%2Finternal%2Fv1%2Fcontext%2Fstrings%3Frepo%3DAdsFrontend%26englishSource%3DGITHUB%26path%3Dads-social-boost-panel%2Fstatic%2Flang%2Fen.lyaml%26org%3DHubSpot?requestId=e423b027-66b8-4136-a7ed-85a1af2bd2d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ourcegraph.hubteam.com/search?q=context:global+file:en.lyaml&amp;patternType=keyword&amp;sm=0" TargetMode="External"/><Relationship Id="rId4" Type="http://schemas.openxmlformats.org/officeDocument/2006/relationships/hyperlink" Target="https://drive.google.com/file/d/1PY6Tq3C_cmyfiEMRMsT-sm7_8JkM3A-j/view?usp=drive_link" TargetMode="External"/><Relationship Id="rId5" Type="http://schemas.openxmlformats.org/officeDocument/2006/relationships/hyperlink" Target="https://tools.hubteam.com/api/get/private.hubapi.com%2Flinguine%2Finternal%2Fv1%2Fcontext%2Fstrings%3Frepo%3DAdsFrontend%26englishSource%3DGITHUB%26path%3Dads-social-boost-panel%2Fstatic%2Flang%2Fen.lyaml%26org%3DHubSpot?requestId=e423b027-66b8-4136-a7ed-85a1af2bd2d0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387900" y="2371775"/>
            <a:ext cx="5052600" cy="12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Checker</a:t>
            </a:r>
            <a:endParaRPr/>
          </a:p>
        </p:txBody>
      </p:sp>
      <p:sp>
        <p:nvSpPr>
          <p:cNvPr id="224" name="Google Shape;224;p27"/>
          <p:cNvSpPr txBox="1"/>
          <p:nvPr>
            <p:ph idx="1" type="subTitle"/>
          </p:nvPr>
        </p:nvSpPr>
        <p:spPr>
          <a:xfrm>
            <a:off x="387975" y="3886706"/>
            <a:ext cx="40956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Kieran Forde</a:t>
            </a:r>
            <a:r>
              <a:rPr lang="en"/>
              <a:t>,</a:t>
            </a:r>
            <a:r>
              <a:rPr lang="en">
                <a:latin typeface="Lexend Deca Light"/>
                <a:ea typeface="Lexend Deca Light"/>
                <a:cs typeface="Lexend Deca Light"/>
                <a:sym typeface="Lexend Deca Light"/>
              </a:rPr>
              <a:t> February 2026</a:t>
            </a:r>
            <a:endParaRPr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40" r="40" t="0"/>
          <a:stretch/>
        </p:blipFill>
        <p:spPr>
          <a:xfrm>
            <a:off x="4891564" y="681767"/>
            <a:ext cx="3689550" cy="392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28"/>
          <p:cNvGraphicFramePr/>
          <p:nvPr/>
        </p:nvGraphicFramePr>
        <p:xfrm>
          <a:off x="0" y="1421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{828C802D-F8B2-4472-AA90-F5755E98DDA5}</a:tableStyleId>
              </a:tblPr>
              <a:tblGrid>
                <a:gridCol w="1400175"/>
                <a:gridCol w="7743825"/>
              </a:tblGrid>
              <a:tr h="64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➡</a:t>
                      </a:r>
                      <a:endParaRPr b="1" sz="160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5486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  <a:hlinkClick r:id="rId3"/>
                        </a:rPr>
                        <a:t>Background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- why Terminology Checker exists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45720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➡</a:t>
                      </a:r>
                      <a:endParaRPr b="1" sz="160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5486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  <a:hlinkClick r:id="rId4"/>
                        </a:rPr>
                        <a:t>Latest version of Terminology Checker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45720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➡</a:t>
                      </a:r>
                      <a:endParaRPr b="1" sz="160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5486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  <a:hlinkClick r:id="rId5"/>
                        </a:rPr>
                        <a:t>Content Design Vision for Terminology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T="91425" marB="91425" marR="91425" marL="45720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231" name="Google Shape;23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8777" y="1421121"/>
            <a:ext cx="1255975" cy="253030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type="title"/>
          </p:nvPr>
        </p:nvSpPr>
        <p:spPr>
          <a:xfrm>
            <a:off x="481275" y="519625"/>
            <a:ext cx="41031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87900" y="1292100"/>
            <a:ext cx="4848600" cy="25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Quick recap</a:t>
            </a:r>
            <a:endParaRPr/>
          </a:p>
        </p:txBody>
      </p:sp>
      <p:pic>
        <p:nvPicPr>
          <p:cNvPr descr="preencoded.png" id="238" name="Google Shape;238;p29"/>
          <p:cNvPicPr preferRelativeResize="0"/>
          <p:nvPr/>
        </p:nvPicPr>
        <p:blipFill rotWithShape="1">
          <a:blip r:embed="rId3">
            <a:alphaModFix/>
          </a:blip>
          <a:srcRect b="38693" l="0" r="0" t="55555"/>
          <a:stretch/>
        </p:blipFill>
        <p:spPr>
          <a:xfrm>
            <a:off x="257175" y="2857499"/>
            <a:ext cx="8834451" cy="295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29"/>
          <p:cNvPicPr preferRelativeResize="0"/>
          <p:nvPr/>
        </p:nvPicPr>
        <p:blipFill rotWithShape="1">
          <a:blip r:embed="rId4">
            <a:alphaModFix/>
          </a:blip>
          <a:srcRect b="6326" l="7785" r="7777" t="8298"/>
          <a:stretch/>
        </p:blipFill>
        <p:spPr>
          <a:xfrm>
            <a:off x="6016425" y="1206700"/>
            <a:ext cx="2639700" cy="32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387900" y="2032372"/>
            <a:ext cx="3923700" cy="23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What this is</a:t>
            </a:r>
            <a:r>
              <a:rPr lang="en"/>
              <a:t>: Terminology Checker app scans content strings and compares to Writer docs to find terminology conflicts.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Current state</a:t>
            </a:r>
            <a:r>
              <a:rPr lang="en"/>
              <a:t>: Hosted in Lovable with Supabase cloud storage. A script fetches .en lyaml files using the Linguine API.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Next challenge</a:t>
            </a:r>
            <a:r>
              <a:rPr lang="en"/>
              <a:t>: Finding an automated, integrated way to route and fix issues at scale.</a:t>
            </a:r>
            <a:endParaRPr/>
          </a:p>
        </p:txBody>
      </p:sp>
      <p:sp>
        <p:nvSpPr>
          <p:cNvPr id="245" name="Google Shape;245;p30"/>
          <p:cNvSpPr txBox="1"/>
          <p:nvPr>
            <p:ph type="title"/>
          </p:nvPr>
        </p:nvSpPr>
        <p:spPr>
          <a:xfrm>
            <a:off x="387900" y="11239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TL;DR</a:t>
            </a:r>
            <a:endParaRPr/>
          </a:p>
        </p:txBody>
      </p:sp>
      <p:pic>
        <p:nvPicPr>
          <p:cNvPr descr="preencoded.png" id="246" name="Google Shape;2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6108" y="1020450"/>
            <a:ext cx="3881437" cy="3424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87900" y="1942772"/>
            <a:ext cx="3923700" cy="25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Inconsistent terminology hurts usability and trust.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</a:t>
            </a:r>
            <a:r>
              <a:rPr b="1" lang="en">
                <a:latin typeface="Lexend Deca"/>
                <a:ea typeface="Lexend Deca"/>
                <a:cs typeface="Lexend Deca"/>
                <a:sym typeface="Lexend Deca"/>
              </a:rPr>
              <a:t>~34,000 critical terminology issues </a:t>
            </a:r>
            <a:r>
              <a:rPr lang="en"/>
              <a:t>live in the product right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Writer helps shape new content, but can’t fix existing content problems.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Checker finds issues </a:t>
            </a:r>
            <a:r>
              <a:rPr lang="en"/>
              <a:t>already </a:t>
            </a:r>
            <a:r>
              <a:rPr lang="en"/>
              <a:t>in prod.</a:t>
            </a:r>
            <a:endParaRPr/>
          </a:p>
        </p:txBody>
      </p:sp>
      <p:sp>
        <p:nvSpPr>
          <p:cNvPr id="252" name="Google Shape;252;p31"/>
          <p:cNvSpPr txBox="1"/>
          <p:nvPr>
            <p:ph type="title"/>
          </p:nvPr>
        </p:nvSpPr>
        <p:spPr>
          <a:xfrm>
            <a:off x="387900" y="1034375"/>
            <a:ext cx="3923700" cy="8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pic>
        <p:nvPicPr>
          <p:cNvPr descr="preencoded.png" id="253" name="Google Shape;253;p31"/>
          <p:cNvPicPr preferRelativeResize="0"/>
          <p:nvPr/>
        </p:nvPicPr>
        <p:blipFill rotWithShape="1">
          <a:blip r:embed="rId3">
            <a:alphaModFix/>
          </a:blip>
          <a:srcRect b="6326" l="7785" r="7777" t="8298"/>
          <a:stretch/>
        </p:blipFill>
        <p:spPr>
          <a:xfrm>
            <a:off x="5514125" y="1075425"/>
            <a:ext cx="2639700" cy="32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87900" y="-11"/>
            <a:ext cx="8196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How the app works</a:t>
            </a:r>
            <a:endParaRPr sz="22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pic>
        <p:nvPicPr>
          <p:cNvPr descr="preencoded.png" id="259" name="Google Shape;2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98359"/>
            <a:ext cx="9101138" cy="462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97025" y="1833850"/>
            <a:ext cx="1945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exend Deca Light"/>
              <a:buAutoNum type="arabicPeriod"/>
            </a:pPr>
            <a:r>
              <a:rPr lang="en" sz="13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 created a script that fetches English </a:t>
            </a:r>
            <a:r>
              <a:rPr lang="en" sz="13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translation files using the Linguine API.</a:t>
            </a:r>
            <a:endParaRPr sz="1100">
              <a:solidFill>
                <a:schemeClr val="dk1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4928152" y="1833855"/>
            <a:ext cx="15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7193329" y="1833856"/>
            <a:ext cx="14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pic>
        <p:nvPicPr>
          <p:cNvPr descr="preencoded.png" id="263" name="Google Shape;26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080" y="1094488"/>
            <a:ext cx="552450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0917" y="1094488"/>
            <a:ext cx="552450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5755" y="1094488"/>
            <a:ext cx="552450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592" y="1094488"/>
            <a:ext cx="552450" cy="76676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/>
        </p:nvSpPr>
        <p:spPr>
          <a:xfrm>
            <a:off x="4689386" y="1833850"/>
            <a:ext cx="19452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exend Deca Light"/>
              <a:buAutoNum type="arabicPeriod" startAt="3"/>
            </a:pPr>
            <a:r>
              <a:rPr lang="en" sz="13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The app also uses pattern recognition to detect potential new terms that need to be documented.</a:t>
            </a:r>
            <a:endParaRPr sz="1300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2431700" y="1833850"/>
            <a:ext cx="19452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exend Deca Light"/>
              <a:buAutoNum type="arabicPeriod" startAt="2"/>
            </a:pPr>
            <a:r>
              <a:rPr lang="en" sz="13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Terminology Checker analyses the files and compares them to Writer documentation, identifying issues and conflicts.</a:t>
            </a:r>
            <a:endParaRPr sz="1300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7084739" y="1833850"/>
            <a:ext cx="1945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exend Deca Light"/>
              <a:buAutoNum type="arabicPeriod" startAt="4"/>
            </a:pPr>
            <a:r>
              <a:rPr lang="en" sz="1300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Uploading new sets of strings allows us measure “terminology debt” over time</a:t>
            </a:r>
            <a:endParaRPr sz="1300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4294967295" type="title"/>
          </p:nvPr>
        </p:nvSpPr>
        <p:spPr>
          <a:xfrm>
            <a:off x="387900" y="-11"/>
            <a:ext cx="8196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Current flow</a:t>
            </a:r>
            <a:endParaRPr sz="22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247750" y="1254675"/>
            <a:ext cx="1970400" cy="7197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Search 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Sourcegraph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for all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en.lyaml files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1309650" y="3236875"/>
            <a:ext cx="1970400" cy="7905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Python script visits files in the csv using Linguine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247750" y="2263450"/>
            <a:ext cx="1970400" cy="4956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Export to csv (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example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)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278" name="Google Shape;278;p33"/>
          <p:cNvCxnSpPr>
            <a:stCxn id="275" idx="2"/>
            <a:endCxn id="277" idx="0"/>
          </p:cNvCxnSpPr>
          <p:nvPr/>
        </p:nvCxnSpPr>
        <p:spPr>
          <a:xfrm>
            <a:off x="1232950" y="1974375"/>
            <a:ext cx="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33"/>
          <p:cNvSpPr/>
          <p:nvPr/>
        </p:nvSpPr>
        <p:spPr>
          <a:xfrm>
            <a:off x="2477700" y="1254675"/>
            <a:ext cx="1970400" cy="7197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Grab 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Linguine cookie session details from API Goggles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tool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2477700" y="2263450"/>
            <a:ext cx="1970400" cy="4956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Paste cookie details to local file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281" name="Google Shape;281;p33"/>
          <p:cNvCxnSpPr>
            <a:stCxn id="277" idx="2"/>
            <a:endCxn id="276" idx="0"/>
          </p:cNvCxnSpPr>
          <p:nvPr/>
        </p:nvCxnSpPr>
        <p:spPr>
          <a:xfrm>
            <a:off x="1232950" y="2759050"/>
            <a:ext cx="1062000" cy="4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3"/>
          <p:cNvCxnSpPr>
            <a:stCxn id="279" idx="2"/>
            <a:endCxn id="280" idx="0"/>
          </p:cNvCxnSpPr>
          <p:nvPr/>
        </p:nvCxnSpPr>
        <p:spPr>
          <a:xfrm>
            <a:off x="3462900" y="1974375"/>
            <a:ext cx="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33"/>
          <p:cNvCxnSpPr>
            <a:stCxn id="280" idx="2"/>
            <a:endCxn id="276" idx="0"/>
          </p:cNvCxnSpPr>
          <p:nvPr/>
        </p:nvCxnSpPr>
        <p:spPr>
          <a:xfrm flipH="1">
            <a:off x="2294700" y="2759050"/>
            <a:ext cx="1168200" cy="4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33"/>
          <p:cNvSpPr/>
          <p:nvPr/>
        </p:nvSpPr>
        <p:spPr>
          <a:xfrm>
            <a:off x="1309650" y="4269250"/>
            <a:ext cx="1970400" cy="7905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Product strings saved locally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85" name="Google Shape;285;p33"/>
          <p:cNvCxnSpPr>
            <a:stCxn id="276" idx="2"/>
            <a:endCxn id="284" idx="0"/>
          </p:cNvCxnSpPr>
          <p:nvPr/>
        </p:nvCxnSpPr>
        <p:spPr>
          <a:xfrm>
            <a:off x="2294850" y="4027375"/>
            <a:ext cx="0" cy="2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3"/>
          <p:cNvSpPr txBox="1"/>
          <p:nvPr>
            <p:ph idx="4294967295" type="title"/>
          </p:nvPr>
        </p:nvSpPr>
        <p:spPr>
          <a:xfrm>
            <a:off x="1094850" y="737500"/>
            <a:ext cx="2400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Fetching</a:t>
            </a: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 content</a:t>
            </a:r>
            <a:endParaRPr sz="1400">
              <a:latin typeface="Lexend Deca ExtraBold"/>
              <a:ea typeface="Lexend Deca ExtraBold"/>
              <a:cs typeface="Lexend Deca ExtraBold"/>
              <a:sym typeface="Lexend Deca ExtraBold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4785925" y="12546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Upload product strings to Terminology Checker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7094150" y="12546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Upload Writer database to Terminology Checker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89" name="Google Shape;289;p33"/>
          <p:cNvCxnSpPr>
            <a:stCxn id="284" idx="3"/>
            <a:endCxn id="287" idx="0"/>
          </p:cNvCxnSpPr>
          <p:nvPr/>
        </p:nvCxnSpPr>
        <p:spPr>
          <a:xfrm flipH="1" rot="10800000">
            <a:off x="3280050" y="1254700"/>
            <a:ext cx="2491200" cy="3409800"/>
          </a:xfrm>
          <a:prstGeom prst="bentConnector4">
            <a:avLst>
              <a:gd fmla="val 53926" name="adj1"/>
              <a:gd fmla="val 10698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3"/>
          <p:cNvSpPr/>
          <p:nvPr/>
        </p:nvSpPr>
        <p:spPr>
          <a:xfrm>
            <a:off x="6023475" y="2263575"/>
            <a:ext cx="1970400" cy="5232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Saved to Supabase cloud storage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4751175" y="2933975"/>
            <a:ext cx="1970400" cy="10581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 reports strings that conflict with Writer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7094150" y="2933975"/>
            <a:ext cx="1970400" cy="10581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 reports strings that contain patterns that look like undocumented terms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5849675" y="42692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Share csv export with relevant teams/owners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294" name="Google Shape;294;p33"/>
          <p:cNvCxnSpPr>
            <a:stCxn id="288" idx="2"/>
            <a:endCxn id="290" idx="0"/>
          </p:cNvCxnSpPr>
          <p:nvPr/>
        </p:nvCxnSpPr>
        <p:spPr>
          <a:xfrm flipH="1">
            <a:off x="7008650" y="2045150"/>
            <a:ext cx="107070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3"/>
          <p:cNvCxnSpPr>
            <a:stCxn id="287" idx="2"/>
            <a:endCxn id="290" idx="0"/>
          </p:cNvCxnSpPr>
          <p:nvPr/>
        </p:nvCxnSpPr>
        <p:spPr>
          <a:xfrm>
            <a:off x="5771125" y="2045150"/>
            <a:ext cx="123750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3"/>
          <p:cNvCxnSpPr>
            <a:stCxn id="290" idx="2"/>
            <a:endCxn id="291" idx="0"/>
          </p:cNvCxnSpPr>
          <p:nvPr/>
        </p:nvCxnSpPr>
        <p:spPr>
          <a:xfrm flipH="1">
            <a:off x="5736375" y="2786775"/>
            <a:ext cx="1272300" cy="1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3"/>
          <p:cNvCxnSpPr>
            <a:stCxn id="290" idx="2"/>
            <a:endCxn id="292" idx="0"/>
          </p:cNvCxnSpPr>
          <p:nvPr/>
        </p:nvCxnSpPr>
        <p:spPr>
          <a:xfrm>
            <a:off x="7008675" y="2786775"/>
            <a:ext cx="1070700" cy="1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3"/>
          <p:cNvCxnSpPr>
            <a:stCxn id="291" idx="2"/>
            <a:endCxn id="293" idx="0"/>
          </p:cNvCxnSpPr>
          <p:nvPr/>
        </p:nvCxnSpPr>
        <p:spPr>
          <a:xfrm>
            <a:off x="5736375" y="3992075"/>
            <a:ext cx="1098600" cy="2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3"/>
          <p:cNvCxnSpPr>
            <a:stCxn id="292" idx="2"/>
            <a:endCxn id="293" idx="0"/>
          </p:cNvCxnSpPr>
          <p:nvPr/>
        </p:nvCxnSpPr>
        <p:spPr>
          <a:xfrm flipH="1">
            <a:off x="6834950" y="3992075"/>
            <a:ext cx="1244400" cy="2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33"/>
          <p:cNvSpPr txBox="1"/>
          <p:nvPr>
            <p:ph idx="4294967295" type="title"/>
          </p:nvPr>
        </p:nvSpPr>
        <p:spPr>
          <a:xfrm>
            <a:off x="5736375" y="737500"/>
            <a:ext cx="2400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Analysing</a:t>
            </a: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 content</a:t>
            </a:r>
            <a:endParaRPr sz="1400">
              <a:latin typeface="Lexend Deca ExtraBold"/>
              <a:ea typeface="Lexend Deca ExtraBold"/>
              <a:cs typeface="Lexend Deca ExtraBold"/>
              <a:sym typeface="Lexend Deca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idx="4294967295" type="title"/>
          </p:nvPr>
        </p:nvSpPr>
        <p:spPr>
          <a:xfrm>
            <a:off x="387900" y="-11"/>
            <a:ext cx="81969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Current flow</a:t>
            </a:r>
            <a:endParaRPr sz="22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247750" y="1254675"/>
            <a:ext cx="1970400" cy="7197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Search 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Sourcegraph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for all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en.lyaml files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1309650" y="3236875"/>
            <a:ext cx="1970400" cy="7905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Python script visits files in the csv using Linguine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247750" y="2263450"/>
            <a:ext cx="1970400" cy="4956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Export to csv (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example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)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309" name="Google Shape;309;p34"/>
          <p:cNvCxnSpPr>
            <a:stCxn id="306" idx="2"/>
            <a:endCxn id="308" idx="0"/>
          </p:cNvCxnSpPr>
          <p:nvPr/>
        </p:nvCxnSpPr>
        <p:spPr>
          <a:xfrm>
            <a:off x="1232950" y="1974375"/>
            <a:ext cx="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34"/>
          <p:cNvSpPr/>
          <p:nvPr/>
        </p:nvSpPr>
        <p:spPr>
          <a:xfrm>
            <a:off x="2477700" y="1254675"/>
            <a:ext cx="1970400" cy="7197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Grab </a:t>
            </a:r>
            <a:r>
              <a:rPr lang="en" sz="1000" u="sng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Linguine cookie session details from API Goggles</a:t>
            </a: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 tool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2477700" y="2263450"/>
            <a:ext cx="1970400" cy="4956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Paste cookie details to local file</a:t>
            </a:r>
            <a:endParaRPr b="1" sz="1000">
              <a:solidFill>
                <a:schemeClr val="lt2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312" name="Google Shape;312;p34"/>
          <p:cNvCxnSpPr>
            <a:stCxn id="308" idx="2"/>
            <a:endCxn id="307" idx="0"/>
          </p:cNvCxnSpPr>
          <p:nvPr/>
        </p:nvCxnSpPr>
        <p:spPr>
          <a:xfrm>
            <a:off x="1232950" y="2759050"/>
            <a:ext cx="1062000" cy="4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4"/>
          <p:cNvCxnSpPr>
            <a:stCxn id="310" idx="2"/>
            <a:endCxn id="311" idx="0"/>
          </p:cNvCxnSpPr>
          <p:nvPr/>
        </p:nvCxnSpPr>
        <p:spPr>
          <a:xfrm>
            <a:off x="3462900" y="1974375"/>
            <a:ext cx="0" cy="2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4"/>
          <p:cNvCxnSpPr>
            <a:stCxn id="311" idx="2"/>
            <a:endCxn id="307" idx="0"/>
          </p:cNvCxnSpPr>
          <p:nvPr/>
        </p:nvCxnSpPr>
        <p:spPr>
          <a:xfrm flipH="1">
            <a:off x="2294700" y="2759050"/>
            <a:ext cx="1168200" cy="4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34"/>
          <p:cNvSpPr/>
          <p:nvPr/>
        </p:nvSpPr>
        <p:spPr>
          <a:xfrm>
            <a:off x="1309650" y="4269250"/>
            <a:ext cx="1970400" cy="790500"/>
          </a:xfrm>
          <a:prstGeom prst="rect">
            <a:avLst/>
          </a:prstGeom>
          <a:gradFill>
            <a:gsLst>
              <a:gs pos="0">
                <a:srgbClr val="446989"/>
              </a:gs>
              <a:gs pos="100000">
                <a:srgbClr val="1B262F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Product strings saved locally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316" name="Google Shape;316;p34"/>
          <p:cNvCxnSpPr>
            <a:stCxn id="307" idx="2"/>
            <a:endCxn id="315" idx="0"/>
          </p:cNvCxnSpPr>
          <p:nvPr/>
        </p:nvCxnSpPr>
        <p:spPr>
          <a:xfrm>
            <a:off x="2294850" y="4027375"/>
            <a:ext cx="0" cy="2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4"/>
          <p:cNvSpPr txBox="1"/>
          <p:nvPr>
            <p:ph idx="4294967295" type="title"/>
          </p:nvPr>
        </p:nvSpPr>
        <p:spPr>
          <a:xfrm>
            <a:off x="1094850" y="737500"/>
            <a:ext cx="2400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Fetching content</a:t>
            </a:r>
            <a:endParaRPr sz="1400">
              <a:latin typeface="Lexend Deca ExtraBold"/>
              <a:ea typeface="Lexend Deca ExtraBold"/>
              <a:cs typeface="Lexend Deca ExtraBold"/>
              <a:sym typeface="Lexend Deca ExtraBold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4785925" y="12546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Upload product strings to Terminology Checker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7094150" y="12546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Upload Writer database to Terminology Checker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320" name="Google Shape;320;p34"/>
          <p:cNvCxnSpPr>
            <a:stCxn id="315" idx="3"/>
            <a:endCxn id="318" idx="0"/>
          </p:cNvCxnSpPr>
          <p:nvPr/>
        </p:nvCxnSpPr>
        <p:spPr>
          <a:xfrm flipH="1" rot="10800000">
            <a:off x="3280050" y="1254700"/>
            <a:ext cx="2491200" cy="3409800"/>
          </a:xfrm>
          <a:prstGeom prst="bentConnector4">
            <a:avLst>
              <a:gd fmla="val 53926" name="adj1"/>
              <a:gd fmla="val 10698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4"/>
          <p:cNvSpPr/>
          <p:nvPr/>
        </p:nvSpPr>
        <p:spPr>
          <a:xfrm>
            <a:off x="6023475" y="2263575"/>
            <a:ext cx="1970400" cy="5232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Saved to Supabase cloud storage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4751175" y="2933975"/>
            <a:ext cx="1970400" cy="10581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 reports strings that conflict with Writer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7094150" y="2933975"/>
            <a:ext cx="1970400" cy="10581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App reports strings that contain patterns that look like undocumented terms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5849675" y="4269250"/>
            <a:ext cx="1970400" cy="790500"/>
          </a:xfrm>
          <a:prstGeom prst="rect">
            <a:avLst/>
          </a:prstGeom>
          <a:gradFill>
            <a:gsLst>
              <a:gs pos="0">
                <a:srgbClr val="E27159"/>
              </a:gs>
              <a:gs pos="100000">
                <a:srgbClr val="973622"/>
              </a:gs>
            </a:gsLst>
            <a:lin ang="5400012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Share csv export with relevant teams/owners</a:t>
            </a:r>
            <a:endParaRPr sz="1000">
              <a:solidFill>
                <a:schemeClr val="lt2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325" name="Google Shape;325;p34"/>
          <p:cNvCxnSpPr>
            <a:stCxn id="319" idx="2"/>
            <a:endCxn id="321" idx="0"/>
          </p:cNvCxnSpPr>
          <p:nvPr/>
        </p:nvCxnSpPr>
        <p:spPr>
          <a:xfrm flipH="1">
            <a:off x="7008650" y="2045150"/>
            <a:ext cx="107070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4"/>
          <p:cNvCxnSpPr>
            <a:stCxn id="318" idx="2"/>
            <a:endCxn id="321" idx="0"/>
          </p:cNvCxnSpPr>
          <p:nvPr/>
        </p:nvCxnSpPr>
        <p:spPr>
          <a:xfrm>
            <a:off x="5771125" y="2045150"/>
            <a:ext cx="123750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34"/>
          <p:cNvCxnSpPr>
            <a:stCxn id="321" idx="2"/>
            <a:endCxn id="322" idx="0"/>
          </p:cNvCxnSpPr>
          <p:nvPr/>
        </p:nvCxnSpPr>
        <p:spPr>
          <a:xfrm flipH="1">
            <a:off x="5736375" y="2786775"/>
            <a:ext cx="1272300" cy="1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34"/>
          <p:cNvCxnSpPr>
            <a:stCxn id="321" idx="2"/>
            <a:endCxn id="323" idx="0"/>
          </p:cNvCxnSpPr>
          <p:nvPr/>
        </p:nvCxnSpPr>
        <p:spPr>
          <a:xfrm>
            <a:off x="7008675" y="2786775"/>
            <a:ext cx="1070700" cy="1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4"/>
          <p:cNvCxnSpPr>
            <a:stCxn id="322" idx="2"/>
            <a:endCxn id="324" idx="0"/>
          </p:cNvCxnSpPr>
          <p:nvPr/>
        </p:nvCxnSpPr>
        <p:spPr>
          <a:xfrm>
            <a:off x="5736375" y="3992075"/>
            <a:ext cx="1098600" cy="2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4"/>
          <p:cNvCxnSpPr>
            <a:stCxn id="323" idx="2"/>
            <a:endCxn id="324" idx="0"/>
          </p:cNvCxnSpPr>
          <p:nvPr/>
        </p:nvCxnSpPr>
        <p:spPr>
          <a:xfrm flipH="1">
            <a:off x="6834950" y="3992075"/>
            <a:ext cx="1244400" cy="2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34"/>
          <p:cNvSpPr txBox="1"/>
          <p:nvPr>
            <p:ph idx="4294967295" type="title"/>
          </p:nvPr>
        </p:nvSpPr>
        <p:spPr>
          <a:xfrm>
            <a:off x="5736375" y="737500"/>
            <a:ext cx="2400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 Deca ExtraBold"/>
                <a:ea typeface="Lexend Deca ExtraBold"/>
                <a:cs typeface="Lexend Deca ExtraBold"/>
                <a:sym typeface="Lexend Deca ExtraBold"/>
              </a:rPr>
              <a:t>Analysing content</a:t>
            </a:r>
            <a:endParaRPr sz="1400">
              <a:latin typeface="Lexend Deca ExtraBold"/>
              <a:ea typeface="Lexend Deca ExtraBold"/>
              <a:cs typeface="Lexend Deca ExtraBold"/>
              <a:sym typeface="Lexend Deca ExtraBold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83425" y="778675"/>
            <a:ext cx="9010500" cy="4281000"/>
          </a:xfrm>
          <a:prstGeom prst="rect">
            <a:avLst/>
          </a:prstGeom>
          <a:solidFill>
            <a:srgbClr val="FEF4EA">
              <a:alpha val="905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 Deca"/>
                <a:ea typeface="Lexend Deca"/>
                <a:cs typeface="Lexend Deca"/>
                <a:sym typeface="Lexend Deca"/>
              </a:rPr>
              <a:t>Repeat</a:t>
            </a:r>
            <a:endParaRPr b="1" sz="3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Fetch new snapshot</a:t>
            </a:r>
            <a:b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</a:b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	↓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Upload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↓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Compare trends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↓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Track issues fixed, added, removed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exend Deca Light"/>
                <a:ea typeface="Lexend Deca Light"/>
                <a:cs typeface="Lexend Deca Light"/>
                <a:sym typeface="Lexend Deca Light"/>
              </a:rPr>
              <a:t>	</a:t>
            </a:r>
            <a:r>
              <a:rPr lang="en" sz="3000">
                <a:latin typeface="Lexend Deca Light"/>
                <a:ea typeface="Lexend Deca Light"/>
                <a:cs typeface="Lexend Deca Light"/>
                <a:sym typeface="Lexend Deca Light"/>
              </a:rPr>
              <a:t>⟳</a:t>
            </a:r>
            <a:endParaRPr sz="220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>
            <p:ph type="title"/>
          </p:nvPr>
        </p:nvSpPr>
        <p:spPr>
          <a:xfrm>
            <a:off x="387900" y="1292100"/>
            <a:ext cx="4848600" cy="25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Improvements to the app</a:t>
            </a:r>
            <a:endParaRPr/>
          </a:p>
        </p:txBody>
      </p:sp>
      <p:pic>
        <p:nvPicPr>
          <p:cNvPr descr="preencoded.png" id="338" name="Google Shape;338;p35"/>
          <p:cNvPicPr preferRelativeResize="0"/>
          <p:nvPr/>
        </p:nvPicPr>
        <p:blipFill rotWithShape="1">
          <a:blip r:embed="rId3">
            <a:alphaModFix/>
          </a:blip>
          <a:srcRect b="38693" l="0" r="0" t="55555"/>
          <a:stretch/>
        </p:blipFill>
        <p:spPr>
          <a:xfrm>
            <a:off x="257175" y="2857499"/>
            <a:ext cx="8834451" cy="29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5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5598325" y="1601150"/>
            <a:ext cx="2662424" cy="283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/>
          <p:nvPr>
            <p:ph idx="1" type="body"/>
          </p:nvPr>
        </p:nvSpPr>
        <p:spPr>
          <a:xfrm>
            <a:off x="522987" y="1597500"/>
            <a:ext cx="3923700" cy="21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exend Deca"/>
                <a:ea typeface="Lexend Deca"/>
                <a:cs typeface="Lexend Deca"/>
                <a:sym typeface="Lexend Deca"/>
              </a:rPr>
              <a:t>December 2025</a:t>
            </a:r>
            <a:endParaRPr b="1"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App running locally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Scanning small batches of strings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Browser-based storage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/>
              <a:t>Sending targeted reports to teams</a:t>
            </a:r>
            <a:endParaRPr sz="1600"/>
          </a:p>
        </p:txBody>
      </p:sp>
      <p:sp>
        <p:nvSpPr>
          <p:cNvPr id="345" name="Google Shape;345;p36"/>
          <p:cNvSpPr txBox="1"/>
          <p:nvPr>
            <p:ph idx="4294967295" type="body"/>
          </p:nvPr>
        </p:nvSpPr>
        <p:spPr>
          <a:xfrm>
            <a:off x="4707087" y="1597500"/>
            <a:ext cx="45207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exend Deca"/>
                <a:ea typeface="Lexend Deca"/>
                <a:cs typeface="Lexend Deca"/>
                <a:sym typeface="Lexend Deca"/>
              </a:rPr>
              <a:t>January</a:t>
            </a:r>
            <a:r>
              <a:rPr b="1" lang="en" sz="1600">
                <a:latin typeface="Lexend Deca"/>
                <a:ea typeface="Lexend Deca"/>
                <a:cs typeface="Lexend Deca"/>
                <a:sym typeface="Lexend Deca"/>
              </a:rPr>
              <a:t> 2026</a:t>
            </a:r>
            <a:endParaRPr b="1"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App hosted in Lovable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Scanning snapshots of the whole product*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Cloud-based storage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/>
              <a:t>Ready to scale terminology changes across teams</a:t>
            </a:r>
            <a:endParaRPr sz="1000"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800"/>
              <a:t>*Every .en file listed in Sourcegraph and accessible through the </a:t>
            </a:r>
            <a:br>
              <a:rPr lang="en" sz="800"/>
            </a:br>
            <a:r>
              <a:rPr lang="en" sz="800"/>
              <a:t>Linguine API  - there may be missing backend content.</a:t>
            </a:r>
            <a:endParaRPr sz="800"/>
          </a:p>
        </p:txBody>
      </p:sp>
      <p:sp>
        <p:nvSpPr>
          <p:cNvPr id="346" name="Google Shape;346;p36"/>
          <p:cNvSpPr txBox="1"/>
          <p:nvPr>
            <p:ph idx="2" type="subTitle"/>
          </p:nvPr>
        </p:nvSpPr>
        <p:spPr>
          <a:xfrm>
            <a:off x="0" y="308850"/>
            <a:ext cx="9144000" cy="115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4700">
                <a:solidFill>
                  <a:schemeClr val="accent4"/>
                </a:solidFill>
                <a:latin typeface="Lexend Deca ExtraLight"/>
                <a:ea typeface="Lexend Deca ExtraLight"/>
                <a:cs typeface="Lexend Deca ExtraLight"/>
                <a:sym typeface="Lexend Deca ExtraLight"/>
              </a:rPr>
              <a:t>Updates</a:t>
            </a:r>
            <a:endParaRPr b="1" sz="200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387900" y="1292100"/>
            <a:ext cx="4848600" cy="25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What’s next</a:t>
            </a:r>
            <a:endParaRPr/>
          </a:p>
        </p:txBody>
      </p:sp>
      <p:pic>
        <p:nvPicPr>
          <p:cNvPr descr="preencoded.png" id="352" name="Google Shape;352;p37"/>
          <p:cNvPicPr preferRelativeResize="0"/>
          <p:nvPr/>
        </p:nvPicPr>
        <p:blipFill rotWithShape="1">
          <a:blip r:embed="rId3">
            <a:alphaModFix/>
          </a:blip>
          <a:srcRect b="38693" l="0" r="0" t="55555"/>
          <a:stretch/>
        </p:blipFill>
        <p:spPr>
          <a:xfrm>
            <a:off x="257175" y="2857499"/>
            <a:ext cx="8834451" cy="29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7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5659875" y="1318825"/>
            <a:ext cx="3169224" cy="337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387900" y="771800"/>
            <a:ext cx="41841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Paying down debt</a:t>
            </a:r>
            <a:endParaRPr sz="18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Now that we can see all the critical terminology issues across HubSpot, we need a way to fix them! I’d divide terminology issues into 3 categories: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Critical issues</a:t>
            </a:r>
            <a:r>
              <a:rPr lang="en" sz="1200"/>
              <a:t> - clear cut “wrong’ terms with a simple replacement</a:t>
            </a:r>
            <a:endParaRPr sz="1200"/>
          </a:p>
          <a:p>
            <a:pPr indent="-200025" lvl="1" marL="771525" rtl="0" algn="l"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e.g. Replace “</a:t>
            </a:r>
            <a:r>
              <a:rPr lang="en" sz="900">
                <a:solidFill>
                  <a:srgbClr val="141414"/>
                </a:solidFill>
                <a:latin typeface="Courier New"/>
                <a:ea typeface="Courier New"/>
                <a:cs typeface="Courier New"/>
                <a:sym typeface="Courier New"/>
              </a:rPr>
              <a:t>HubSpot AI</a:t>
            </a:r>
            <a:r>
              <a:rPr lang="en" sz="900"/>
              <a:t>” with “</a:t>
            </a:r>
            <a:r>
              <a:rPr lang="en" sz="900">
                <a:solidFill>
                  <a:srgbClr val="141414"/>
                </a:solidFill>
                <a:latin typeface="Courier New"/>
                <a:ea typeface="Courier New"/>
                <a:cs typeface="Courier New"/>
                <a:sym typeface="Courier New"/>
              </a:rPr>
              <a:t>Breeze</a:t>
            </a:r>
            <a:r>
              <a:rPr lang="en" sz="900"/>
              <a:t>”</a:t>
            </a:r>
            <a:br>
              <a:rPr lang="en" sz="900"/>
            </a:br>
            <a:endParaRPr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Subjective issues</a:t>
            </a:r>
            <a:r>
              <a:rPr lang="en" sz="1200"/>
              <a:t> - there’s better option, but identifying it might take some thought</a:t>
            </a:r>
            <a:endParaRPr sz="1200"/>
          </a:p>
          <a:p>
            <a:pPr indent="-200025" lvl="1" marL="771525" rtl="0" algn="l"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e</a:t>
            </a:r>
            <a:r>
              <a:rPr lang="en" sz="900"/>
              <a:t>.g. “</a:t>
            </a:r>
            <a:r>
              <a:rPr lang="en" sz="900">
                <a:solidFill>
                  <a:srgbClr val="141414"/>
                </a:solidFill>
                <a:latin typeface="Courier New"/>
                <a:ea typeface="Courier New"/>
                <a:cs typeface="Courier New"/>
                <a:sym typeface="Courier New"/>
              </a:rPr>
              <a:t>Try to avoid saying something was successfully done. It's usually redundant and adds complexity.”</a:t>
            </a:r>
            <a:br>
              <a:rPr lang="en" sz="900">
                <a:solidFill>
                  <a:srgbClr val="14141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Strategic issues</a:t>
            </a:r>
            <a:r>
              <a:rPr lang="en" sz="1200"/>
              <a:t> - requires collaboration or deeper conceptual work</a:t>
            </a:r>
            <a:endParaRPr sz="1200"/>
          </a:p>
          <a:p>
            <a:pPr indent="-219075" lvl="1" marL="771525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en" sz="900"/>
              <a:t>e.g. A term isn't documented yet or the underlying concept has shifted and the terminology needs rethinking</a:t>
            </a:r>
            <a:r>
              <a:rPr lang="en" sz="1200"/>
              <a:t>.</a:t>
            </a:r>
            <a:br>
              <a:rPr lang="en" sz="1200"/>
            </a:br>
            <a:endParaRPr sz="1200"/>
          </a:p>
        </p:txBody>
      </p:sp>
      <p:pic>
        <p:nvPicPr>
          <p:cNvPr descr="preencoded.png" id="359" name="Google Shape;359;p38"/>
          <p:cNvPicPr preferRelativeResize="0"/>
          <p:nvPr/>
        </p:nvPicPr>
        <p:blipFill rotWithShape="1">
          <a:blip r:embed="rId3">
            <a:alphaModFix/>
          </a:blip>
          <a:srcRect b="6326" l="7785" r="7777" t="8298"/>
          <a:stretch/>
        </p:blipFill>
        <p:spPr>
          <a:xfrm>
            <a:off x="5514125" y="1075425"/>
            <a:ext cx="2639700" cy="32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>
            <p:ph type="title"/>
          </p:nvPr>
        </p:nvSpPr>
        <p:spPr>
          <a:xfrm>
            <a:off x="387900" y="771800"/>
            <a:ext cx="4184100" cy="3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issues</a:t>
            </a:r>
            <a:endParaRPr sz="18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 should deal with each category of issue differently: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Critical issues</a:t>
            </a:r>
            <a:r>
              <a:rPr lang="en" sz="1200"/>
              <a:t> - fix automatically, with minimal review</a:t>
            </a:r>
            <a:endParaRPr sz="1200"/>
          </a:p>
          <a:p>
            <a:pPr indent="-190500" lvl="1" marL="74295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900"/>
              <a:t>e.g. generate a PR, Monarch task, or </a:t>
            </a:r>
            <a:r>
              <a:rPr lang="en" sz="900"/>
              <a:t>deploy a fix directly</a:t>
            </a:r>
            <a:br>
              <a:rPr lang="en" sz="900"/>
            </a:br>
            <a:endParaRPr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Subjective issues</a:t>
            </a:r>
            <a:r>
              <a:rPr lang="en" sz="1200"/>
              <a:t> - make it easy to review and propose a fix</a:t>
            </a:r>
            <a:endParaRPr sz="1200"/>
          </a:p>
          <a:p>
            <a:pPr indent="-200025" lvl="1" marL="771525" rtl="0" algn="l"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e.g. automated Slack notification alerts the relevant designer to the</a:t>
            </a:r>
            <a:r>
              <a:rPr lang="en" sz="900"/>
              <a:t> string and </a:t>
            </a:r>
            <a:r>
              <a:rPr lang="en" sz="900"/>
              <a:t>guidance; they have the option to generate a PR with a fix, or reject the alert. </a:t>
            </a:r>
            <a:br>
              <a:rPr lang="en" sz="900">
                <a:solidFill>
                  <a:srgbClr val="14141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latin typeface="Lexend Deca"/>
                <a:ea typeface="Lexend Deca"/>
                <a:cs typeface="Lexend Deca"/>
                <a:sym typeface="Lexend Deca"/>
              </a:rPr>
              <a:t>Strategic issues</a:t>
            </a:r>
            <a:r>
              <a:rPr lang="en" sz="1200"/>
              <a:t> - requires collaboration or deeper conceptual work</a:t>
            </a:r>
            <a:endParaRPr sz="1200"/>
          </a:p>
          <a:p>
            <a:pPr indent="-219075" lvl="1" marL="771525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en" sz="900"/>
              <a:t>e</a:t>
            </a:r>
            <a:r>
              <a:rPr lang="en" sz="900"/>
              <a:t>.g.</a:t>
            </a:r>
            <a:r>
              <a:rPr lang="en" sz="900"/>
              <a:t> automated Slack notification alerts the</a:t>
            </a:r>
            <a:r>
              <a:rPr lang="en" sz="900"/>
              <a:t> relevant designer to the string and guidance, with resources to resolve the issue (workshops, advice, Content Design consultancy)</a:t>
            </a:r>
            <a:br>
              <a:rPr lang="en" sz="1200"/>
            </a:br>
            <a:endParaRPr sz="1200"/>
          </a:p>
        </p:txBody>
      </p:sp>
      <p:pic>
        <p:nvPicPr>
          <p:cNvPr id="365" name="Google Shape;365;p39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4959913" y="613261"/>
            <a:ext cx="3443100" cy="366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>
            <p:ph type="title"/>
          </p:nvPr>
        </p:nvSpPr>
        <p:spPr>
          <a:xfrm>
            <a:off x="387900" y="2200837"/>
            <a:ext cx="8613600" cy="25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Where I need help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</p:txBody>
      </p:sp>
      <p:pic>
        <p:nvPicPr>
          <p:cNvPr descr="preencoded.png" id="371" name="Google Shape;371;p40"/>
          <p:cNvPicPr preferRelativeResize="0"/>
          <p:nvPr/>
        </p:nvPicPr>
        <p:blipFill rotWithShape="1">
          <a:blip r:embed="rId3">
            <a:alphaModFix/>
          </a:blip>
          <a:srcRect b="38693" l="0" r="0" t="55555"/>
          <a:stretch/>
        </p:blipFill>
        <p:spPr>
          <a:xfrm>
            <a:off x="257175" y="2857499"/>
            <a:ext cx="8834451" cy="29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0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5672638" y="531900"/>
            <a:ext cx="3118776" cy="331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 txBox="1"/>
          <p:nvPr>
            <p:ph type="title"/>
          </p:nvPr>
        </p:nvSpPr>
        <p:spPr>
          <a:xfrm>
            <a:off x="387900" y="771800"/>
            <a:ext cx="4184100" cy="3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Blockers</a:t>
            </a:r>
            <a:endParaRPr sz="1800">
              <a:latin typeface="Lexend Deca ExtraLight"/>
              <a:ea typeface="Lexend Deca ExtraLight"/>
              <a:cs typeface="Lexend Deca ExtraLight"/>
              <a:sym typeface="Lexend Deca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I’ve made a lot of progress using external tools, but making change happen at scale needs </a:t>
            </a:r>
            <a:r>
              <a:rPr lang="en" sz="1200"/>
              <a:t>integration</a:t>
            </a:r>
            <a:r>
              <a:rPr lang="en" sz="1200"/>
              <a:t> with internal systems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 need help identifying the right tools, systems, integrations, and mechanisms to allocate tasks to teams in an appropriate way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 need a better understanding of what infrastructure already exists, and what needs to be built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AutoNum type="arabicPeriod"/>
            </a:pPr>
            <a:r>
              <a:rPr lang="en" sz="1200"/>
              <a:t>I’d love to know whether any teams are interested in rebuilding the app on internal infrastructure and helping me solve these scale challenges!</a:t>
            </a:r>
            <a:endParaRPr sz="1200"/>
          </a:p>
        </p:txBody>
      </p:sp>
      <p:pic>
        <p:nvPicPr>
          <p:cNvPr id="378" name="Google Shape;378;p41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4959913" y="613261"/>
            <a:ext cx="3443100" cy="366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ywheel 2025 Theme">
  <a:themeElements>
    <a:clrScheme name="Simple Light">
      <a:dk1>
        <a:srgbClr val="213343"/>
      </a:dk1>
      <a:lt1>
        <a:srgbClr val="FEF4EA"/>
      </a:lt1>
      <a:dk2>
        <a:srgbClr val="2E475D"/>
      </a:dk2>
      <a:lt2>
        <a:srgbClr val="FFFFFF"/>
      </a:lt2>
      <a:accent1>
        <a:srgbClr val="FF5C35"/>
      </a:accent1>
      <a:accent2>
        <a:srgbClr val="FFCEC2"/>
      </a:accent2>
      <a:accent3>
        <a:srgbClr val="FFEBC9"/>
      </a:accent3>
      <a:accent4>
        <a:srgbClr val="D44325"/>
      </a:accent4>
      <a:accent5>
        <a:srgbClr val="FF7A59"/>
      </a:accent5>
      <a:accent6>
        <a:srgbClr val="192733"/>
      </a:accent6>
      <a:hlink>
        <a:srgbClr val="FF5C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